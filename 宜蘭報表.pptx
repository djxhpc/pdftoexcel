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2" r:id="rId7"/>
    <p:sldId id="264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954C75C-2B9D-7422-27B0-AD94AB0A19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916C4F6-60BC-57DA-A4EF-045559799E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DB55686-55D2-E7B4-DF94-0C6057BBB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795ED-3527-4378-893F-892E904B1AC7}" type="datetimeFigureOut">
              <a:rPr lang="zh-TW" altLang="en-US" smtClean="0"/>
              <a:t>2026/6/4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209A256-3418-4C51-2625-EF99A70BC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E1615B3-1625-4FE0-50F3-D1D1E9239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FD83A-3158-4AFA-8FF1-4E7C38E375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3562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7F8C16-ED07-8BBB-96CF-8EC83B0A3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1BCA42A-0A08-2A1B-D9C5-D4620CCBCF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278393F-B58D-64FB-4C20-C75BEF757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795ED-3527-4378-893F-892E904B1AC7}" type="datetimeFigureOut">
              <a:rPr lang="zh-TW" altLang="en-US" smtClean="0"/>
              <a:t>2026/6/4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54B3B84-84C3-CF42-36AF-AC36D1208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EB0A0DD-DB44-EAA2-FB90-316DF00B8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FD83A-3158-4AFA-8FF1-4E7C38E375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3219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F102AF-635F-9680-D279-0FBC8576D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3F1625D-E49C-558A-8A26-7642724A98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33FF97D-526A-6F51-76FB-82299EEA8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795ED-3527-4378-893F-892E904B1AC7}" type="datetimeFigureOut">
              <a:rPr lang="zh-TW" altLang="en-US" smtClean="0"/>
              <a:t>2026/6/4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5A35B1C-1D48-22E3-7DAB-AE6834A08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C88F708-5D29-1A13-4397-62616605B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FD83A-3158-4AFA-8FF1-4E7C38E375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0885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1C915D-987D-18D6-D01A-B358BC7EC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E5DD808-02FD-4F20-0268-C435492D66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89720D8-F17C-0DF5-6FC1-4562233D5B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E6622DB-9AA7-90CB-E307-80B510B4D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795ED-3527-4378-893F-892E904B1AC7}" type="datetimeFigureOut">
              <a:rPr lang="zh-TW" altLang="en-US" smtClean="0"/>
              <a:t>2026/6/4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2DDF73A-C5AD-6D23-3479-82CC62DCA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8EB573B-5513-23A7-5B7B-B9BB9E033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FD83A-3158-4AFA-8FF1-4E7C38E375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3791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8421AF-4EF3-C9CE-0327-342A8C32C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1216B00-F669-D961-D603-0DC6090790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B7310E1-EAF9-568C-D7A3-15F94F74EA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1A075205-2517-38EE-969A-08A6F78118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2DF2418-0892-0468-B1B8-540A673493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7429080-D486-9A9F-4585-B84AE0B40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795ED-3527-4378-893F-892E904B1AC7}" type="datetimeFigureOut">
              <a:rPr lang="zh-TW" altLang="en-US" smtClean="0"/>
              <a:t>2026/6/4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F5F26FF-26D2-CEE5-A5A6-B0BE57D7F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0265AA01-7C80-88A1-F176-3D9324712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FD83A-3158-4AFA-8FF1-4E7C38E375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9929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29FB47-71BC-8AA6-3550-95080ACB2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72D1E53-32F4-4F00-01F0-DF3CFC372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795ED-3527-4378-893F-892E904B1AC7}" type="datetimeFigureOut">
              <a:rPr lang="zh-TW" altLang="en-US" smtClean="0"/>
              <a:t>2026/6/4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A88B8C3-B097-F226-C6B4-1ADF66EF7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43F6E32-E292-47DA-4E53-EBBF9036D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FD83A-3158-4AFA-8FF1-4E7C38E375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0042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64D69353-4701-46C7-6EFB-7FB024D05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795ED-3527-4378-893F-892E904B1AC7}" type="datetimeFigureOut">
              <a:rPr lang="zh-TW" altLang="en-US" smtClean="0"/>
              <a:t>2026/6/4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701B650-1EB4-65DA-7963-CCE384ABB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7B02F0C-E492-D07F-EEC1-17E4E66F1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FD83A-3158-4AFA-8FF1-4E7C38E375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5269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9A45B5-DA2F-1BC7-5C82-9811AA011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4AA92F4-DF79-AE51-3BFD-7CAEEBF2B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51B0299-DFC1-BB92-FE0D-A2BC43768A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7DD67C0-D8D9-FBAB-CA4E-D373E72D9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795ED-3527-4378-893F-892E904B1AC7}" type="datetimeFigureOut">
              <a:rPr lang="zh-TW" altLang="en-US" smtClean="0"/>
              <a:t>2026/6/4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579B410-843F-4774-E4A0-EB008F1A2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082D0CB-F518-91CE-F5AB-1B0B54DB8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FD83A-3158-4AFA-8FF1-4E7C38E375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8633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B4B372-F8E8-CC20-EA88-5AEE08403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77FCAEAC-EEC9-B4A8-EDA8-B33C34FB04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6FA5363-E6F5-DB8B-7FBC-FD44BF4E18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45ED737-25EB-DDE7-0C4F-17DD86D47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795ED-3527-4378-893F-892E904B1AC7}" type="datetimeFigureOut">
              <a:rPr lang="zh-TW" altLang="en-US" smtClean="0"/>
              <a:t>2026/6/4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3AC8B59-7A9E-9682-E92C-41B95483B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647D85A-91DC-CFFE-E613-54D0A5A06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FD83A-3158-4AFA-8FF1-4E7C38E375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0145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63FB74-44E4-2913-D2A8-CD17E7CB0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5C10860-6B64-BDDF-E0D4-F01F16D5AF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55A15DC-0894-FC44-5A30-183A05442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795ED-3527-4378-893F-892E904B1AC7}" type="datetimeFigureOut">
              <a:rPr lang="zh-TW" altLang="en-US" smtClean="0"/>
              <a:t>2026/6/4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6BA2C63-E89E-E2CA-A4DB-EB1D936EF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B81CCC8-766A-C0D1-2915-9F2D24F57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FD83A-3158-4AFA-8FF1-4E7C38E375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1559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B759596-B9BD-79D5-4F55-73FAD2562C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A07259D-C4C1-AE9D-DA95-4079BA518C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DC23D89-2D41-7388-714E-B634DAC49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795ED-3527-4378-893F-892E904B1AC7}" type="datetimeFigureOut">
              <a:rPr lang="zh-TW" altLang="en-US" smtClean="0"/>
              <a:t>2026/6/4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12EB2BE-EB4C-0775-FDCF-30B89DA4F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FB32071-1704-73BD-D0A5-EC36D8BB6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FD83A-3158-4AFA-8FF1-4E7C38E375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33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9FE8F7E3-BDE9-3CE1-4E28-BE47C5331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B8271D2-49D2-71A6-36F1-0B11FD7B64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771C7D7-7A72-E2CF-00DE-45EEA25EDA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D795ED-3527-4378-893F-892E904B1AC7}" type="datetimeFigureOut">
              <a:rPr lang="zh-TW" altLang="en-US" smtClean="0"/>
              <a:t>2026/6/4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D35FE90-54B8-929B-F354-2DC42FAE7A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F578C0F-B008-CB7B-E3EB-2FD6742391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BFD83A-3158-4AFA-8FF1-4E7C38E375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6648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mp"/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D25DBA0F-8592-A6FB-BFF9-7A960B7BCE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4066540"/>
          </a:xfrm>
        </p:spPr>
        <p:txBody>
          <a:bodyPr anchor="b">
            <a:normAutofit/>
          </a:bodyPr>
          <a:lstStyle/>
          <a:p>
            <a:pPr algn="l"/>
            <a:r>
              <a:rPr lang="zh-TW" altLang="zh-TW" sz="6600">
                <a:latin typeface="標楷體" panose="03000509000000000000" pitchFamily="65" charset="-120"/>
                <a:ea typeface="標楷體" panose="03000509000000000000" pitchFamily="65" charset="-120"/>
              </a:rPr>
              <a:t>宜蘭</a:t>
            </a:r>
            <a:r>
              <a:rPr lang="zh-TW" altLang="en-US" sz="6600">
                <a:latin typeface="標楷體" panose="03000509000000000000" pitchFamily="65" charset="-120"/>
                <a:ea typeface="標楷體" panose="03000509000000000000" pitchFamily="65" charset="-120"/>
              </a:rPr>
              <a:t>智慧報表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D3C83DF-E0BF-6DE7-72AA-CC2B8BB2BC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4983276"/>
            <a:ext cx="10512552" cy="1126680"/>
          </a:xfrm>
        </p:spPr>
        <p:txBody>
          <a:bodyPr>
            <a:normAutofit/>
          </a:bodyPr>
          <a:lstStyle/>
          <a:p>
            <a:pPr algn="l"/>
            <a:r>
              <a:rPr lang="zh-TW" altLang="zh-TW" b="1">
                <a:latin typeface="標楷體" panose="03000509000000000000" pitchFamily="65" charset="-120"/>
                <a:ea typeface="標楷體" panose="03000509000000000000" pitchFamily="65" charset="-120"/>
              </a:rPr>
              <a:t>PDF </a:t>
            </a:r>
            <a:r>
              <a:rPr lang="en-US" altLang="zh-TW" b="1">
                <a:latin typeface="標楷體" panose="03000509000000000000" pitchFamily="65" charset="-120"/>
                <a:ea typeface="標楷體" panose="03000509000000000000" pitchFamily="65" charset="-120"/>
              </a:rPr>
              <a:t>to</a:t>
            </a:r>
            <a:r>
              <a:rPr lang="zh-TW" altLang="zh-TW" b="1">
                <a:latin typeface="標楷體" panose="03000509000000000000" pitchFamily="65" charset="-120"/>
                <a:ea typeface="標楷體" panose="03000509000000000000" pitchFamily="65" charset="-120"/>
              </a:rPr>
              <a:t> Excel </a:t>
            </a:r>
            <a:r>
              <a:rPr lang="zh-TW" altLang="en-US" b="1">
                <a:latin typeface="標楷體" panose="03000509000000000000" pitchFamily="65" charset="-120"/>
                <a:ea typeface="標楷體" panose="03000509000000000000" pitchFamily="65" charset="-120"/>
              </a:rPr>
              <a:t>轉換程式</a:t>
            </a:r>
            <a:endParaRPr lang="zh-TW" altLang="zh-TW" b="1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l"/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品權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218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A2C87E-E252-4961-163B-CF1F97521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latin typeface="標楷體" panose="03000509000000000000" pitchFamily="65" charset="-120"/>
                <a:ea typeface="標楷體" panose="03000509000000000000" pitchFamily="65" charset="-120"/>
              </a:rPr>
              <a:t>1.</a:t>
            </a:r>
            <a:r>
              <a:rPr lang="zh-TW" altLang="en-US" sz="4000" dirty="0">
                <a:latin typeface="標楷體" panose="03000509000000000000" pitchFamily="65" charset="-120"/>
                <a:ea typeface="標楷體" panose="03000509000000000000" pitchFamily="65" charset="-120"/>
              </a:rPr>
              <a:t>使用</a:t>
            </a:r>
            <a:r>
              <a:rPr lang="zh-TW" altLang="zh-TW" sz="4000" dirty="0">
                <a:latin typeface="標楷體" panose="03000509000000000000" pitchFamily="65" charset="-120"/>
                <a:ea typeface="標楷體" panose="03000509000000000000" pitchFamily="65" charset="-120"/>
              </a:rPr>
              <a:t>函式庫</a:t>
            </a:r>
            <a:endParaRPr lang="zh-TW" altLang="en-US" sz="4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591A2FD-4803-67D7-6483-6B09B79564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P</a:t>
            </a:r>
            <a:r>
              <a:rPr lang="zh-TW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dfplumber</a:t>
            </a:r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：</a:t>
            </a: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解析 PDF 頁面、擷取表格與文字座標</a:t>
            </a:r>
          </a:p>
          <a:p>
            <a:r>
              <a:rPr lang="zh-TW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RapidOCR</a:t>
            </a:r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：</a:t>
            </a: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深度學習 OCR 引擎，支援繁體中文辨識</a:t>
            </a:r>
          </a:p>
          <a:p>
            <a:r>
              <a:rPr lang="zh-TW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PIL / Pillow</a:t>
            </a:r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：</a:t>
            </a: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影像縮放、對比度與銳化處理</a:t>
            </a:r>
          </a:p>
          <a:p>
            <a:r>
              <a:rPr lang="zh-TW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openpyxl + pandas</a:t>
            </a:r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：</a:t>
            </a: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建立 Excel 工作表、資料清洗與輸出</a:t>
            </a:r>
            <a:endParaRPr lang="zh-TW" altLang="zh-TW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66839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165F43-3FEC-62F1-859B-A322D4B7C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231880" cy="13255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TW" sz="4000" dirty="0">
                <a:latin typeface="標楷體" panose="03000509000000000000" pitchFamily="65" charset="-120"/>
                <a:ea typeface="標楷體" panose="03000509000000000000" pitchFamily="65" charset="-120"/>
              </a:rPr>
              <a:t>2.</a:t>
            </a:r>
            <a:r>
              <a:rPr lang="zh-TW" altLang="zh-TW" sz="40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sz="4000" dirty="0">
                <a:latin typeface="標楷體" panose="03000509000000000000" pitchFamily="65" charset="-120"/>
                <a:ea typeface="標楷體" panose="03000509000000000000" pitchFamily="65" charset="-120"/>
              </a:rPr>
              <a:t>以</a:t>
            </a:r>
            <a:r>
              <a:rPr lang="zh-TW" altLang="zh-TW" sz="4000" dirty="0">
                <a:latin typeface="標楷體" panose="03000509000000000000" pitchFamily="65" charset="-120"/>
                <a:ea typeface="標楷體" panose="03000509000000000000" pitchFamily="65" charset="-120"/>
              </a:rPr>
              <a:t>pdfplumber</a:t>
            </a:r>
            <a:r>
              <a:rPr lang="zh-TW" altLang="en-US" sz="4000" dirty="0">
                <a:latin typeface="標楷體" panose="03000509000000000000" pitchFamily="65" charset="-120"/>
                <a:ea typeface="標楷體" panose="03000509000000000000" pitchFamily="65" charset="-120"/>
              </a:rPr>
              <a:t>搜尋</a:t>
            </a:r>
            <a:r>
              <a:rPr lang="zh-TW" altLang="zh-TW" sz="4000" dirty="0">
                <a:latin typeface="標楷體" panose="03000509000000000000" pitchFamily="65" charset="-120"/>
                <a:ea typeface="標楷體" panose="03000509000000000000" pitchFamily="65" charset="-120"/>
              </a:rPr>
              <a:t>每頁</a:t>
            </a:r>
            <a:r>
              <a:rPr lang="zh-TW" altLang="en-US" sz="4000" dirty="0">
                <a:latin typeface="標楷體" panose="03000509000000000000" pitchFamily="65" charset="-120"/>
                <a:ea typeface="標楷體" panose="03000509000000000000" pitchFamily="65" charset="-120"/>
              </a:rPr>
              <a:t>原資料並輸入表格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483B7E3-ABC6-26B5-3D60-CAB54C6321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append_tables_and_outside_text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：</a:t>
            </a: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處理一般頁面的函式。直接利用 pdfplumber 內建的 find_tables() 與 extract() 方法來抓取結構明確的表格。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b="1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words_to_line_blocks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：用於一般頁面中非表格區域的文字處理，將破碎的文字物件根據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Y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軸間距組合回行。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B33FD873-092A-097A-8B2A-4647C7B32E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377152"/>
            <a:ext cx="4915586" cy="1247949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5F0CBD13-32A1-98D4-E9BD-0F30785F53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414" y="4001294"/>
            <a:ext cx="4082484" cy="2387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681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2A8A90CD-F415-29BA-5A8B-41376F9A92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65" y="1199147"/>
            <a:ext cx="6003635" cy="4459705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72C1E8DC-E61D-B8F3-19F4-22BC3BA03A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3052" y="1441435"/>
            <a:ext cx="5766583" cy="3975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923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E6322D-705D-15DF-8AFD-C462BD70E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4.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針對第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14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頁下方表格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掃描檔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使用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OCR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6856FF66-EB1C-36F1-157E-8E603623D9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5690" y="1787525"/>
            <a:ext cx="3802469" cy="4351338"/>
          </a:xfrm>
          <a:prstGeom prst="rect">
            <a:avLst/>
          </a:prstGeom>
        </p:spPr>
      </p:pic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A16C49AE-326B-426F-D3D9-D28A983EF2A1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694749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get_ocr_blocks_for_page</a:t>
            </a:r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：</a:t>
            </a:r>
            <a:endParaRPr lang="en-US" altLang="zh-TW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514350" indent="-514350">
              <a:buFont typeface="+mj-lt"/>
              <a:buAutoNum type="arabicPeriod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將此頁面轉成高解析度圖以</a:t>
            </a: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enhance_for_ocr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進行影像強化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514350" indent="-514350">
              <a:buFont typeface="+mj-lt"/>
              <a:buAutoNum type="arabicPeriod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將</a:t>
            </a: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文字過濾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避免於其他表格重複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514350" indent="-514350">
              <a:buFont typeface="+mj-lt"/>
              <a:buAutoNum type="arabicPeriod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以新文字計算平均中心，防止文字擠在同一個儲存格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514350" indent="-514350">
              <a:buFont typeface="+mj-lt"/>
              <a:buAutoNum type="arabicPeriod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對齊欄位與基準線最後轉成繁中輸出</a:t>
            </a:r>
          </a:p>
        </p:txBody>
      </p:sp>
    </p:spTree>
    <p:extLst>
      <p:ext uri="{BB962C8B-B14F-4D97-AF65-F5344CB8AC3E}">
        <p14:creationId xmlns:p14="http://schemas.microsoft.com/office/powerpoint/2010/main" val="4278562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1D4B2D74-DE64-5CD7-418A-2A2FFBC140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51351"/>
          <a:stretch>
            <a:fillRect/>
          </a:stretch>
        </p:blipFill>
        <p:spPr>
          <a:xfrm>
            <a:off x="1494904" y="2819400"/>
            <a:ext cx="9202191" cy="2939845"/>
          </a:xfrm>
          <a:prstGeom prst="rect">
            <a:avLst/>
          </a:prstGeom>
        </p:spPr>
      </p:pic>
      <p:sp>
        <p:nvSpPr>
          <p:cNvPr id="4" name="標題 1">
            <a:extLst>
              <a:ext uri="{FF2B5EF4-FFF2-40B4-BE49-F238E27FC236}">
                <a16:creationId xmlns:a16="http://schemas.microsoft.com/office/drawing/2014/main" id="{CDC71EBF-4851-3C33-77B4-0C496C995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5.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 表格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掃描檔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輸出因畫質而有所出入</a:t>
            </a: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7ED26D46-178B-23D0-390A-D8F1317058D4}"/>
              </a:ext>
            </a:extLst>
          </p:cNvPr>
          <p:cNvSpPr txBox="1">
            <a:spLocks/>
          </p:cNvSpPr>
          <p:nvPr/>
        </p:nvSpPr>
        <p:spPr>
          <a:xfrm>
            <a:off x="838199" y="1825625"/>
            <a:ext cx="1002644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建立台灣行政區資料庫比對：依照字形相似度比對進行轉換</a:t>
            </a:r>
            <a:endParaRPr lang="en-US" altLang="zh-TW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55389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2B2FB974-420C-3124-D0B6-F1A4B91243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41849"/>
            <a:ext cx="12192000" cy="3574301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676C8A01-14A8-1FD5-F005-8738DAE41339}"/>
              </a:ext>
            </a:extLst>
          </p:cNvPr>
          <p:cNvSpPr txBox="1">
            <a:spLocks/>
          </p:cNvSpPr>
          <p:nvPr/>
        </p:nvSpPr>
        <p:spPr>
          <a:xfrm>
            <a:off x="657329" y="566092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整體流程圖</a:t>
            </a:r>
          </a:p>
        </p:txBody>
      </p:sp>
    </p:spTree>
    <p:extLst>
      <p:ext uri="{BB962C8B-B14F-4D97-AF65-F5344CB8AC3E}">
        <p14:creationId xmlns:p14="http://schemas.microsoft.com/office/powerpoint/2010/main" val="2481721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261</Words>
  <Application>Microsoft Office PowerPoint</Application>
  <PresentationFormat>寬螢幕</PresentationFormat>
  <Paragraphs>20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2" baseType="lpstr">
      <vt:lpstr>標楷體</vt:lpstr>
      <vt:lpstr>Aptos</vt:lpstr>
      <vt:lpstr>Aptos Display</vt:lpstr>
      <vt:lpstr>Arial</vt:lpstr>
      <vt:lpstr>Office 佈景主題</vt:lpstr>
      <vt:lpstr>宜蘭智慧報表</vt:lpstr>
      <vt:lpstr>1.使用函式庫</vt:lpstr>
      <vt:lpstr>2. 以pdfplumber搜尋每頁原資料並輸入表格</vt:lpstr>
      <vt:lpstr>PowerPoint 簡報</vt:lpstr>
      <vt:lpstr>4.針對第14頁下方表格(掃描檔)使用OCR</vt:lpstr>
      <vt:lpstr>5. 表格(掃描檔)輸出因畫質而有所出入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WF_132</dc:creator>
  <cp:lastModifiedBy>PenguinChuan</cp:lastModifiedBy>
  <cp:revision>5</cp:revision>
  <dcterms:created xsi:type="dcterms:W3CDTF">2026-06-04T05:42:43Z</dcterms:created>
  <dcterms:modified xsi:type="dcterms:W3CDTF">2026-06-04T13:21:27Z</dcterms:modified>
</cp:coreProperties>
</file>